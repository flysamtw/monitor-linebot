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0e9f4556d8d4521" /><Relationship Type="http://schemas.openxmlformats.org/package/2006/relationships/metadata/core-properties" Target="/docProps/core.xml" Id="R4995f32913c54e0a" /><Relationship Type="http://schemas.openxmlformats.org/officeDocument/2006/relationships/extended-properties" Target="/docProps/app.xml" Id="R3a590d6e7b174fdc" /><Relationship Type="http://schemas.openxmlformats.org/officeDocument/2006/relationships/custom-properties" Target="/docProps/custom.xml" Id="Rf10497a42e4a4bb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9613a9f4aaa49bb"/>
  </p:notesMasterIdLst>
  <p:sldIdLst>
    <p:sldId id="256" r:id="R3f2dd44584964be8"/>
    <p:sldId id="257" r:id="Raeca86d5bfc0419c"/>
  </p:sldIdLst>
  <p:sldSz cx="25920000" cy="17280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f2dd44584964be8" /><Relationship Type="http://schemas.openxmlformats.org/officeDocument/2006/relationships/notesMaster" Target="/ppt/notesMasters/notesMaster1.xml" Id="R79613a9f4aaa49bb" /><Relationship Type="http://schemas.openxmlformats.org/officeDocument/2006/relationships/slide" Target="/ppt/slides/slide2.xml" Id="Raeca86d5bfc041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cb78938e0a84cb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048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8862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9d0c5550c984a19" /><Relationship Type="http://schemas.openxmlformats.org/officeDocument/2006/relationships/slide" Target="/ppt/slides/slide1.xml" Id="R4c6c01e7e11247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1b73629d9564dcb" /><Relationship Type="http://schemas.openxmlformats.org/officeDocument/2006/relationships/slide" Target="/ppt/slides/slide2.xml" Id="Re7b2a6bf04f9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查核2026-09-09。本機v29.6.311、Git aa42454；最近正式驗收為2026-09-08 @1492，非本日重新執行全案驗收。來源對照見function-source-map.json。四層：系統→三大分區→功能群組→末端功能。QA/RULE人工維護；新增手冊需官方來源與適用範圍核實。Windows排程需開機、登入、連網；抽頁本身零LLM，不代表首頁驗證或回答免費。F612官方英文已可用；M9為HTML入口；D392兩款及M703只有外區參考，不代表台灣適用。20條離線與Chrome代表性驗收不等於手機LINE送達驗收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查核2026-09-09；本機v29.6.311／aa42454。模型名稱表示專案配置與既有驗收，不宣稱本日官方價格或模型可用性再查證。左欄是一般未解問題的主要順序；任何來源已完整支持即可直接到Reply，不需走完PDF與Web。使用者明確指定來源可直接走該來源；守門只分析，不自行授權或編答案。中欄為GAS內共用模組，不是另架服務。所有Gemini生成皆經providerFetch_：月預留、來源配額、usage結算；圖中入口箭頭為代表關係，包含Fast、PDF、Web、Router及背景驗證。GAS背景發現由Apps Script trigger啟動；Windows只啟動本機worker，輪詢GAS已核實pending，並非Windows呼叫GAS發現排程。右欄需區分此兩種排程。Google Sheets、Properties、Drive皆被GAS直接讀写；下方為共用資料層，不是新增中介服務。檢索使用BM25＋詞彙對照及段落／表格，Files API為整本備援；File Search曾隔離A/B，未採正式遷移。月90為應用停止線，不保證Google帳單即時封頂。來源與適用範圍缺口詳交付說明。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c9ccf051aa42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c87578a4a49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68eaa304649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ea1d9af704d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b79be80c941b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696a46e6d6f4fb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4d1a847df4d8f" /><Relationship Type="http://schemas.openxmlformats.org/officeDocument/2006/relationships/notesSlide" Target="/ppt/notesSlides/notesSlide1.xml" Id="R9bd4761ba65e4b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ebdae5196467f" /><Relationship Type="http://schemas.openxmlformats.org/officeDocument/2006/relationships/notesSlide" Target="/ppt/notesSlides/notesSlide2.xml" Id="R2b713154563143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00000" name="root"/>
          <p:cNvSpPr txBox="1"/>
          <p:nvPr/>
        </p:nvSpPr>
        <p:spPr>
          <a:xfrm xmlns:a="http://schemas.openxmlformats.org/drawingml/2006/main">
            <a:off x="720000" y="504000"/>
            <a:ext cx="2448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5200" b="1">
                <a:solidFill>
                  <a:srgbClr val="1428A0"/>
                </a:solidFill>
                <a:latin typeface="Microsoft JhengHei"/>
                <a:ea typeface="Microsoft JhengHei"/>
              </a:rPr>
              <a:t>Samsung LINE Bot｜功能全貌</a:t>
            </a:r>
          </a:p>
        </p:txBody>
      </p:sp>
      <p:cxnSp>
        <p:nvCxnSpPr>
          <p:cNvPr id="100001" name="tree-root"/>
          <p:cNvCxnSpPr/>
          <p:nvPr/>
        </p:nvCxnSpPr>
        <p:spPr>
          <a:xfrm xmlns:a="http://schemas.openxmlformats.org/drawingml/2006/main">
            <a:off x="12960000" y="1656000"/>
            <a:ext cx="0" cy="612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cxnSp>
        <p:nvCxnSpPr>
          <p:cNvPr id="100002" name="tree-branches"/>
          <p:cNvCxnSpPr/>
          <p:nvPr/>
        </p:nvCxnSpPr>
        <p:spPr>
          <a:xfrm xmlns:a="http://schemas.openxmlformats.org/drawingml/2006/main">
            <a:off x="4572000" y="2268000"/>
            <a:ext cx="16776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cxnSp>
        <p:nvCxnSpPr>
          <p:cNvPr id="100003" name="headlink0"/>
          <p:cNvCxnSpPr/>
          <p:nvPr/>
        </p:nvCxnSpPr>
        <p:spPr>
          <a:xfrm xmlns:a="http://schemas.openxmlformats.org/drawingml/2006/main">
            <a:off x="4572000" y="2268000"/>
            <a:ext cx="0" cy="504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04" name="section0"/>
          <p:cNvSpPr txBox="1"/>
          <p:nvPr/>
        </p:nvSpPr>
        <p:spPr>
          <a:xfrm xmlns:a="http://schemas.openxmlformats.org/drawingml/2006/main">
            <a:off x="720000" y="2772000"/>
            <a:ext cx="77040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A0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3400" b="1">
                <a:solidFill>
                  <a:srgbClr val="FFFFFF"/>
                </a:solidFill>
                <a:latin typeface="Microsoft JhengHei"/>
                <a:ea typeface="Microsoft JhengHei"/>
              </a:rPr>
              <a:t>店員問答</a:t>
            </a:r>
          </a:p>
        </p:txBody>
      </p:sp>
      <p:cxnSp>
        <p:nvCxnSpPr>
          <p:cNvPr id="100005" name="trunk0"/>
          <p:cNvCxnSpPr/>
          <p:nvPr/>
        </p:nvCxnSpPr>
        <p:spPr>
          <a:xfrm xmlns:a="http://schemas.openxmlformats.org/drawingml/2006/main">
            <a:off x="954000" y="3744000"/>
            <a:ext cx="0" cy="11952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cxnSp>
        <p:nvCxnSpPr>
          <p:cNvPr id="100006" name="groupbranch00"/>
          <p:cNvCxnSpPr/>
          <p:nvPr/>
        </p:nvCxnSpPr>
        <p:spPr>
          <a:xfrm xmlns:a="http://schemas.openxmlformats.org/drawingml/2006/main">
            <a:off x="954000" y="4716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07" name="group00"/>
          <p:cNvSpPr txBox="1"/>
          <p:nvPr/>
        </p:nvSpPr>
        <p:spPr>
          <a:xfrm xmlns:a="http://schemas.openxmlformats.org/drawingml/2006/main">
            <a:off x="1260000" y="4320000"/>
            <a:ext cx="716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900" b="1">
                <a:solidFill>
                  <a:srgbClr val="1428A0"/>
                </a:solidFill>
                <a:latin typeface="Microsoft JhengHei"/>
                <a:ea typeface="Microsoft JhengHei"/>
              </a:rPr>
              <a:t>產品與選購</a:t>
            </a:r>
          </a:p>
        </p:txBody>
      </p:sp>
      <p:cxnSp>
        <p:nvCxnSpPr>
          <p:cNvPr id="100008" name="leafbranch000"/>
          <p:cNvCxnSpPr/>
          <p:nvPr/>
        </p:nvCxnSpPr>
        <p:spPr>
          <a:xfrm xmlns:a="http://schemas.openxmlformats.org/drawingml/2006/main">
            <a:off x="954000" y="5724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09" name="F01"/>
          <p:cNvSpPr txBox="1"/>
          <p:nvPr/>
        </p:nvSpPr>
        <p:spPr>
          <a:xfrm xmlns:a="http://schemas.openxmlformats.org/drawingml/2006/main">
            <a:off x="1548000" y="5400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查規格、接孔與功能</a:t>
            </a:r>
          </a:p>
        </p:txBody>
      </p:sp>
      <p:cxnSp>
        <p:nvCxnSpPr>
          <p:cNvPr id="100010" name="leafbranch001"/>
          <p:cNvCxnSpPr/>
          <p:nvPr/>
        </p:nvCxnSpPr>
        <p:spPr>
          <a:xfrm xmlns:a="http://schemas.openxmlformats.org/drawingml/2006/main">
            <a:off x="954000" y="6570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11" name="F02"/>
          <p:cNvSpPr txBox="1"/>
          <p:nvPr/>
        </p:nvSpPr>
        <p:spPr>
          <a:xfrm xmlns:a="http://schemas.openxmlformats.org/drawingml/2006/main">
            <a:off x="1548000" y="6246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比較機型與系列差異</a:t>
            </a:r>
          </a:p>
        </p:txBody>
      </p:sp>
      <p:cxnSp>
        <p:nvCxnSpPr>
          <p:cNvPr id="100012" name="leafbranch002"/>
          <p:cNvCxnSpPr/>
          <p:nvPr/>
        </p:nvCxnSpPr>
        <p:spPr>
          <a:xfrm xmlns:a="http://schemas.openxmlformats.org/drawingml/2006/main">
            <a:off x="954000" y="7416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13" name="F03"/>
          <p:cNvSpPr txBox="1"/>
          <p:nvPr/>
        </p:nvSpPr>
        <p:spPr>
          <a:xfrm xmlns:a="http://schemas.openxmlformats.org/drawingml/2006/main">
            <a:off x="1548000" y="7092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辨識系列並引導選型</a:t>
            </a:r>
          </a:p>
        </p:txBody>
      </p:sp>
      <p:cxnSp>
        <p:nvCxnSpPr>
          <p:cNvPr id="100014" name="groupbranch01"/>
          <p:cNvCxnSpPr/>
          <p:nvPr/>
        </p:nvCxnSpPr>
        <p:spPr>
          <a:xfrm xmlns:a="http://schemas.openxmlformats.org/drawingml/2006/main">
            <a:off x="954000" y="8676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15" name="group01"/>
          <p:cNvSpPr txBox="1"/>
          <p:nvPr/>
        </p:nvSpPr>
        <p:spPr>
          <a:xfrm xmlns:a="http://schemas.openxmlformats.org/drawingml/2006/main">
            <a:off x="1260000" y="8280000"/>
            <a:ext cx="716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900" b="1">
                <a:solidFill>
                  <a:srgbClr val="1428A0"/>
                </a:solidFill>
                <a:latin typeface="Microsoft JhengHei"/>
                <a:ea typeface="Microsoft JhengHei"/>
              </a:rPr>
              <a:t>操作與解決問題</a:t>
            </a:r>
          </a:p>
        </p:txBody>
      </p:sp>
      <p:cxnSp>
        <p:nvCxnSpPr>
          <p:cNvPr id="100016" name="leafbranch010"/>
          <p:cNvCxnSpPr/>
          <p:nvPr/>
        </p:nvCxnSpPr>
        <p:spPr>
          <a:xfrm xmlns:a="http://schemas.openxmlformats.org/drawingml/2006/main">
            <a:off x="954000" y="9684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17" name="F04"/>
          <p:cNvSpPr txBox="1"/>
          <p:nvPr/>
        </p:nvSpPr>
        <p:spPr>
          <a:xfrm xmlns:a="http://schemas.openxmlformats.org/drawingml/2006/main">
            <a:off x="1548000" y="9360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查手冊操作步驟與限制</a:t>
            </a:r>
          </a:p>
        </p:txBody>
      </p:sp>
      <p:cxnSp>
        <p:nvCxnSpPr>
          <p:cNvPr id="100018" name="leafbranch011"/>
          <p:cNvCxnSpPr/>
          <p:nvPr/>
        </p:nvCxnSpPr>
        <p:spPr>
          <a:xfrm xmlns:a="http://schemas.openxmlformats.org/drawingml/2006/main">
            <a:off x="954000" y="10530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19" name="F05"/>
          <p:cNvSpPr txBox="1"/>
          <p:nvPr/>
        </p:nvSpPr>
        <p:spPr>
          <a:xfrm xmlns:a="http://schemas.openxmlformats.org/drawingml/2006/main">
            <a:off x="1548000" y="10206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不足時補查公開網路解答</a:t>
            </a:r>
          </a:p>
        </p:txBody>
      </p:sp>
      <p:cxnSp>
        <p:nvCxnSpPr>
          <p:cNvPr id="100020" name="leafbranch012"/>
          <p:cNvCxnSpPr/>
          <p:nvPr/>
        </p:nvCxnSpPr>
        <p:spPr>
          <a:xfrm xmlns:a="http://schemas.openxmlformats.org/drawingml/2006/main">
            <a:off x="954000" y="11376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21" name="F06"/>
          <p:cNvSpPr txBox="1"/>
          <p:nvPr/>
        </p:nvSpPr>
        <p:spPr>
          <a:xfrm xmlns:a="http://schemas.openxmlformats.org/drawingml/2006/main">
            <a:off x="1548000" y="11052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查看來源與本款官網</a:t>
            </a:r>
          </a:p>
        </p:txBody>
      </p:sp>
      <p:cxnSp>
        <p:nvCxnSpPr>
          <p:cNvPr id="100022" name="groupbranch02"/>
          <p:cNvCxnSpPr/>
          <p:nvPr/>
        </p:nvCxnSpPr>
        <p:spPr>
          <a:xfrm xmlns:a="http://schemas.openxmlformats.org/drawingml/2006/main">
            <a:off x="954000" y="12636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23" name="group02"/>
          <p:cNvSpPr txBox="1"/>
          <p:nvPr/>
        </p:nvSpPr>
        <p:spPr>
          <a:xfrm xmlns:a="http://schemas.openxmlformats.org/drawingml/2006/main">
            <a:off x="1260000" y="12240000"/>
            <a:ext cx="716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900" b="1">
                <a:solidFill>
                  <a:srgbClr val="1428A0"/>
                </a:solidFill>
                <a:latin typeface="Microsoft JhengHei"/>
                <a:ea typeface="Microsoft JhengHei"/>
              </a:rPr>
              <a:t>連續對話</a:t>
            </a:r>
          </a:p>
        </p:txBody>
      </p:sp>
      <p:cxnSp>
        <p:nvCxnSpPr>
          <p:cNvPr id="100024" name="leafbranch020"/>
          <p:cNvCxnSpPr/>
          <p:nvPr/>
        </p:nvCxnSpPr>
        <p:spPr>
          <a:xfrm xmlns:a="http://schemas.openxmlformats.org/drawingml/2006/main">
            <a:off x="954000" y="13644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25" name="F07"/>
          <p:cNvSpPr txBox="1"/>
          <p:nvPr/>
        </p:nvSpPr>
        <p:spPr>
          <a:xfrm xmlns:a="http://schemas.openxmlformats.org/drawingml/2006/main">
            <a:off x="1548000" y="13320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承接追問與已確認型號</a:t>
            </a:r>
          </a:p>
        </p:txBody>
      </p:sp>
      <p:cxnSp>
        <p:nvCxnSpPr>
          <p:cNvPr id="100026" name="leafbranch021"/>
          <p:cNvCxnSpPr/>
          <p:nvPr/>
        </p:nvCxnSpPr>
        <p:spPr>
          <a:xfrm xmlns:a="http://schemas.openxmlformats.org/drawingml/2006/main">
            <a:off x="954000" y="14490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27" name="F08"/>
          <p:cNvSpPr txBox="1"/>
          <p:nvPr/>
        </p:nvSpPr>
        <p:spPr>
          <a:xfrm xmlns:a="http://schemas.openxmlformats.org/drawingml/2006/main">
            <a:off x="1548000" y="14166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同題跨來源查證、快取重用</a:t>
            </a:r>
          </a:p>
        </p:txBody>
      </p:sp>
      <p:cxnSp>
        <p:nvCxnSpPr>
          <p:cNvPr id="100028" name="leafbranch022"/>
          <p:cNvCxnSpPr/>
          <p:nvPr/>
        </p:nvCxnSpPr>
        <p:spPr>
          <a:xfrm xmlns:a="http://schemas.openxmlformats.org/drawingml/2006/main">
            <a:off x="954000" y="15336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none"/>
          </a:ln>
        </p:spPr>
      </p:cxnSp>
      <p:sp>
        <p:nvSpPr>
          <p:cNvPr id="100029" name="F09"/>
          <p:cNvSpPr txBox="1"/>
          <p:nvPr/>
        </p:nvSpPr>
        <p:spPr>
          <a:xfrm xmlns:a="http://schemas.openxmlformats.org/drawingml/2006/main">
            <a:off x="1548000" y="15012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補充一次詳細說明</a:t>
            </a:r>
          </a:p>
        </p:txBody>
      </p:sp>
      <p:cxnSp>
        <p:nvCxnSpPr>
          <p:cNvPr id="100030" name="headlink1"/>
          <p:cNvCxnSpPr/>
          <p:nvPr/>
        </p:nvCxnSpPr>
        <p:spPr>
          <a:xfrm xmlns:a="http://schemas.openxmlformats.org/drawingml/2006/main">
            <a:off x="12996000" y="2268000"/>
            <a:ext cx="0" cy="504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31" name="section1"/>
          <p:cNvSpPr txBox="1"/>
          <p:nvPr/>
        </p:nvSpPr>
        <p:spPr>
          <a:xfrm xmlns:a="http://schemas.openxmlformats.org/drawingml/2006/main">
            <a:off x="9144000" y="2772000"/>
            <a:ext cx="77040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5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3400" b="1">
                <a:solidFill>
                  <a:srgbClr val="FFFFFF"/>
                </a:solidFill>
                <a:latin typeface="Microsoft JhengHei"/>
                <a:ea typeface="Microsoft JhengHei"/>
              </a:rPr>
              <a:t>知識與手冊維護</a:t>
            </a:r>
          </a:p>
        </p:txBody>
      </p:sp>
      <p:cxnSp>
        <p:nvCxnSpPr>
          <p:cNvPr id="100032" name="trunk1"/>
          <p:cNvCxnSpPr/>
          <p:nvPr/>
        </p:nvCxnSpPr>
        <p:spPr>
          <a:xfrm xmlns:a="http://schemas.openxmlformats.org/drawingml/2006/main">
            <a:off x="9378000" y="3744000"/>
            <a:ext cx="0" cy="11952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cxnSp>
        <p:nvCxnSpPr>
          <p:cNvPr id="100033" name="groupbranch10"/>
          <p:cNvCxnSpPr/>
          <p:nvPr/>
        </p:nvCxnSpPr>
        <p:spPr>
          <a:xfrm xmlns:a="http://schemas.openxmlformats.org/drawingml/2006/main">
            <a:off x="9378000" y="4716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34" name="group10"/>
          <p:cNvSpPr txBox="1"/>
          <p:nvPr/>
        </p:nvSpPr>
        <p:spPr>
          <a:xfrm xmlns:a="http://schemas.openxmlformats.org/drawingml/2006/main">
            <a:off x="9684000" y="4320000"/>
            <a:ext cx="716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900" b="1">
                <a:solidFill>
                  <a:srgbClr val="087D85"/>
                </a:solidFill>
                <a:latin typeface="Microsoft JhengHei"/>
                <a:ea typeface="Microsoft JhengHei"/>
              </a:rPr>
              <a:t>基礎知識</a:t>
            </a:r>
          </a:p>
        </p:txBody>
      </p:sp>
      <p:cxnSp>
        <p:nvCxnSpPr>
          <p:cNvPr id="100035" name="leafbranch100"/>
          <p:cNvCxnSpPr/>
          <p:nvPr/>
        </p:nvCxnSpPr>
        <p:spPr>
          <a:xfrm xmlns:a="http://schemas.openxmlformats.org/drawingml/2006/main">
            <a:off x="9378000" y="5724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36" name="F10"/>
          <p:cNvSpPr txBox="1"/>
          <p:nvPr/>
        </p:nvSpPr>
        <p:spPr>
          <a:xfrm xmlns:a="http://schemas.openxmlformats.org/drawingml/2006/main">
            <a:off x="9972000" y="5400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維護常見問答與規格</a:t>
            </a:r>
          </a:p>
        </p:txBody>
      </p:sp>
      <p:cxnSp>
        <p:nvCxnSpPr>
          <p:cNvPr id="100037" name="leafbranch101"/>
          <p:cNvCxnSpPr/>
          <p:nvPr/>
        </p:nvCxnSpPr>
        <p:spPr>
          <a:xfrm xmlns:a="http://schemas.openxmlformats.org/drawingml/2006/main">
            <a:off x="9378000" y="6570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38" name="F11"/>
          <p:cNvSpPr txBox="1"/>
          <p:nvPr/>
        </p:nvSpPr>
        <p:spPr>
          <a:xfrm xmlns:a="http://schemas.openxmlformats.org/drawingml/2006/main">
            <a:off x="9972000" y="6246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整理系列對照與功能術語</a:t>
            </a:r>
          </a:p>
        </p:txBody>
      </p:sp>
      <p:cxnSp>
        <p:nvCxnSpPr>
          <p:cNvPr id="100039" name="leafbranch102"/>
          <p:cNvCxnSpPr/>
          <p:nvPr/>
        </p:nvCxnSpPr>
        <p:spPr>
          <a:xfrm xmlns:a="http://schemas.openxmlformats.org/drawingml/2006/main">
            <a:off x="9378000" y="7416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40" name="F12"/>
          <p:cNvSpPr txBox="1"/>
          <p:nvPr/>
        </p:nvSpPr>
        <p:spPr>
          <a:xfrm xmlns:a="http://schemas.openxmlformats.org/drawingml/2006/main">
            <a:off x="9972000" y="7092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記錄問答供後續補強</a:t>
            </a:r>
          </a:p>
        </p:txBody>
      </p:sp>
      <p:cxnSp>
        <p:nvCxnSpPr>
          <p:cNvPr id="100041" name="groupbranch11"/>
          <p:cNvCxnSpPr/>
          <p:nvPr/>
        </p:nvCxnSpPr>
        <p:spPr>
          <a:xfrm xmlns:a="http://schemas.openxmlformats.org/drawingml/2006/main">
            <a:off x="9378000" y="8676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42" name="group11"/>
          <p:cNvSpPr txBox="1"/>
          <p:nvPr/>
        </p:nvSpPr>
        <p:spPr>
          <a:xfrm xmlns:a="http://schemas.openxmlformats.org/drawingml/2006/main">
            <a:off x="9684000" y="8280000"/>
            <a:ext cx="716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900" b="1">
                <a:solidFill>
                  <a:srgbClr val="087D85"/>
                </a:solidFill>
                <a:latin typeface="Microsoft JhengHei"/>
                <a:ea typeface="Microsoft JhengHei"/>
              </a:rPr>
              <a:t>官方手冊</a:t>
            </a:r>
          </a:p>
        </p:txBody>
      </p:sp>
      <p:cxnSp>
        <p:nvCxnSpPr>
          <p:cNvPr id="100043" name="leafbranch110"/>
          <p:cNvCxnSpPr/>
          <p:nvPr/>
        </p:nvCxnSpPr>
        <p:spPr>
          <a:xfrm xmlns:a="http://schemas.openxmlformats.org/drawingml/2006/main">
            <a:off x="9378000" y="9684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44" name="F13"/>
          <p:cNvSpPr txBox="1"/>
          <p:nvPr/>
        </p:nvSpPr>
        <p:spPr>
          <a:xfrm xmlns:a="http://schemas.openxmlformats.org/drawingml/2006/main">
            <a:off x="9972000" y="9360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發現並核實新版官方文件</a:t>
            </a:r>
          </a:p>
        </p:txBody>
      </p:sp>
      <p:cxnSp>
        <p:nvCxnSpPr>
          <p:cNvPr id="100045" name="leafbranch111"/>
          <p:cNvCxnSpPr/>
          <p:nvPr/>
        </p:nvCxnSpPr>
        <p:spPr>
          <a:xfrm xmlns:a="http://schemas.openxmlformats.org/drawingml/2006/main">
            <a:off x="9378000" y="10530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46" name="F14"/>
          <p:cNvSpPr txBox="1"/>
          <p:nvPr/>
        </p:nvSpPr>
        <p:spPr>
          <a:xfrm xmlns:a="http://schemas.openxmlformats.org/drawingml/2006/main">
            <a:off x="9972000" y="10206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自動產生完整逐頁索引</a:t>
            </a:r>
          </a:p>
        </p:txBody>
      </p:sp>
      <p:cxnSp>
        <p:nvCxnSpPr>
          <p:cNvPr id="100047" name="leafbranch112"/>
          <p:cNvCxnSpPr/>
          <p:nvPr/>
        </p:nvCxnSpPr>
        <p:spPr>
          <a:xfrm xmlns:a="http://schemas.openxmlformats.org/drawingml/2006/main">
            <a:off x="9378000" y="11376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48" name="F15"/>
          <p:cNvSpPr txBox="1"/>
          <p:nvPr/>
        </p:nvSpPr>
        <p:spPr>
          <a:xfrm xmlns:a="http://schemas.openxmlformats.org/drawingml/2006/main">
            <a:off x="9972000" y="11052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失敗保留前一有效版本</a:t>
            </a:r>
          </a:p>
        </p:txBody>
      </p:sp>
      <p:cxnSp>
        <p:nvCxnSpPr>
          <p:cNvPr id="100049" name="groupbranch12"/>
          <p:cNvCxnSpPr/>
          <p:nvPr/>
        </p:nvCxnSpPr>
        <p:spPr>
          <a:xfrm xmlns:a="http://schemas.openxmlformats.org/drawingml/2006/main">
            <a:off x="9378000" y="12636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50" name="group12"/>
          <p:cNvSpPr txBox="1"/>
          <p:nvPr/>
        </p:nvSpPr>
        <p:spPr>
          <a:xfrm xmlns:a="http://schemas.openxmlformats.org/drawingml/2006/main">
            <a:off x="9684000" y="12240000"/>
            <a:ext cx="716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900" b="1">
                <a:solidFill>
                  <a:srgbClr val="087D85"/>
                </a:solidFill>
                <a:latin typeface="Microsoft JhengHei"/>
                <a:ea typeface="Microsoft JhengHei"/>
              </a:rPr>
              <a:t>資料品質</a:t>
            </a:r>
          </a:p>
        </p:txBody>
      </p:sp>
      <p:cxnSp>
        <p:nvCxnSpPr>
          <p:cNvPr id="100051" name="leafbranch120"/>
          <p:cNvCxnSpPr/>
          <p:nvPr/>
        </p:nvCxnSpPr>
        <p:spPr>
          <a:xfrm xmlns:a="http://schemas.openxmlformats.org/drawingml/2006/main">
            <a:off x="9378000" y="13644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52" name="F16"/>
          <p:cNvSpPr txBox="1"/>
          <p:nvPr/>
        </p:nvSpPr>
        <p:spPr>
          <a:xfrm xmlns:a="http://schemas.openxmlformats.org/drawingml/2006/main">
            <a:off x="9972000" y="13320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核對型號與文件適用範圍</a:t>
            </a:r>
          </a:p>
        </p:txBody>
      </p:sp>
      <p:cxnSp>
        <p:nvCxnSpPr>
          <p:cNvPr id="100053" name="leafbranch121"/>
          <p:cNvCxnSpPr/>
          <p:nvPr/>
        </p:nvCxnSpPr>
        <p:spPr>
          <a:xfrm xmlns:a="http://schemas.openxmlformats.org/drawingml/2006/main">
            <a:off x="9378000" y="14490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54" name="F17"/>
          <p:cNvSpPr txBox="1"/>
          <p:nvPr/>
        </p:nvSpPr>
        <p:spPr>
          <a:xfrm xmlns:a="http://schemas.openxmlformats.org/drawingml/2006/main">
            <a:off x="9972000" y="14166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保留頁碼、步驟及限制條件</a:t>
            </a:r>
          </a:p>
        </p:txBody>
      </p:sp>
      <p:cxnSp>
        <p:nvCxnSpPr>
          <p:cNvPr id="100055" name="leafbranch122"/>
          <p:cNvCxnSpPr/>
          <p:nvPr/>
        </p:nvCxnSpPr>
        <p:spPr>
          <a:xfrm xmlns:a="http://schemas.openxmlformats.org/drawingml/2006/main">
            <a:off x="9378000" y="15336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sp>
        <p:nvSpPr>
          <p:cNvPr id="100056" name="F18"/>
          <p:cNvSpPr txBox="1"/>
          <p:nvPr/>
        </p:nvSpPr>
        <p:spPr>
          <a:xfrm xmlns:a="http://schemas.openxmlformats.org/drawingml/2006/main">
            <a:off x="9972000" y="15012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區分可用手冊與參考文件</a:t>
            </a:r>
          </a:p>
        </p:txBody>
      </p:sp>
      <p:cxnSp>
        <p:nvCxnSpPr>
          <p:cNvPr id="100057" name="headlink2"/>
          <p:cNvCxnSpPr/>
          <p:nvPr/>
        </p:nvCxnSpPr>
        <p:spPr>
          <a:xfrm xmlns:a="http://schemas.openxmlformats.org/drawingml/2006/main">
            <a:off x="21420000" y="2268000"/>
            <a:ext cx="0" cy="504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58" name="section2"/>
          <p:cNvSpPr txBox="1"/>
          <p:nvPr/>
        </p:nvSpPr>
        <p:spPr>
          <a:xfrm xmlns:a="http://schemas.openxmlformats.org/drawingml/2006/main">
            <a:off x="17568000" y="2772000"/>
            <a:ext cx="77040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46C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3400" b="1">
                <a:solidFill>
                  <a:srgbClr val="FFFFFF"/>
                </a:solidFill>
                <a:latin typeface="Microsoft JhengHei"/>
                <a:ea typeface="Microsoft JhengHei"/>
              </a:rPr>
              <a:t>管理與費用控管</a:t>
            </a:r>
          </a:p>
        </p:txBody>
      </p:sp>
      <p:cxnSp>
        <p:nvCxnSpPr>
          <p:cNvPr id="100059" name="trunk2"/>
          <p:cNvCxnSpPr/>
          <p:nvPr/>
        </p:nvCxnSpPr>
        <p:spPr>
          <a:xfrm xmlns:a="http://schemas.openxmlformats.org/drawingml/2006/main">
            <a:off x="17802000" y="3744000"/>
            <a:ext cx="0" cy="11952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cxnSp>
        <p:nvCxnSpPr>
          <p:cNvPr id="100060" name="groupbranch20"/>
          <p:cNvCxnSpPr/>
          <p:nvPr/>
        </p:nvCxnSpPr>
        <p:spPr>
          <a:xfrm xmlns:a="http://schemas.openxmlformats.org/drawingml/2006/main">
            <a:off x="17802000" y="4716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61" name="group20"/>
          <p:cNvSpPr txBox="1"/>
          <p:nvPr/>
        </p:nvSpPr>
        <p:spPr>
          <a:xfrm xmlns:a="http://schemas.openxmlformats.org/drawingml/2006/main">
            <a:off x="18108000" y="4320000"/>
            <a:ext cx="716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900" b="1">
                <a:solidFill>
                  <a:srgbClr val="45546C"/>
                </a:solidFill>
                <a:latin typeface="Microsoft JhengHei"/>
                <a:ea typeface="Microsoft JhengHei"/>
              </a:rPr>
              <a:t>使用管理</a:t>
            </a:r>
          </a:p>
        </p:txBody>
      </p:sp>
      <p:cxnSp>
        <p:nvCxnSpPr>
          <p:cNvPr id="100062" name="leafbranch200"/>
          <p:cNvCxnSpPr/>
          <p:nvPr/>
        </p:nvCxnSpPr>
        <p:spPr>
          <a:xfrm xmlns:a="http://schemas.openxmlformats.org/drawingml/2006/main">
            <a:off x="17802000" y="5724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63" name="F19"/>
          <p:cNvSpPr txBox="1"/>
          <p:nvPr/>
        </p:nvSpPr>
        <p:spPr>
          <a:xfrm xmlns:a="http://schemas.openxmlformats.org/drawingml/2006/main">
            <a:off x="18396000" y="5400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一般／手冊／網搜每日額度</a:t>
            </a:r>
          </a:p>
        </p:txBody>
      </p:sp>
      <p:cxnSp>
        <p:nvCxnSpPr>
          <p:cNvPr id="100064" name="leafbranch201"/>
          <p:cNvCxnSpPr/>
          <p:nvPr/>
        </p:nvCxnSpPr>
        <p:spPr>
          <a:xfrm xmlns:a="http://schemas.openxmlformats.org/drawingml/2006/main">
            <a:off x="17802000" y="6570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65" name="F20"/>
          <p:cNvSpPr txBox="1"/>
          <p:nvPr/>
        </p:nvSpPr>
        <p:spPr>
          <a:xfrm xmlns:a="http://schemas.openxmlformats.org/drawingml/2006/main">
            <a:off x="18396000" y="6246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取消、選型不扣進階次數</a:t>
            </a:r>
          </a:p>
        </p:txBody>
      </p:sp>
      <p:cxnSp>
        <p:nvCxnSpPr>
          <p:cNvPr id="100066" name="leafbranch202"/>
          <p:cNvCxnSpPr/>
          <p:nvPr/>
        </p:nvCxnSpPr>
        <p:spPr>
          <a:xfrm xmlns:a="http://schemas.openxmlformats.org/drawingml/2006/main">
            <a:off x="17802000" y="7416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67" name="F21"/>
          <p:cNvSpPr txBox="1"/>
          <p:nvPr/>
        </p:nvSpPr>
        <p:spPr>
          <a:xfrm xmlns:a="http://schemas.openxmlformats.org/drawingml/2006/main">
            <a:off x="18396000" y="7092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限制重複送出與來源連點</a:t>
            </a:r>
          </a:p>
        </p:txBody>
      </p:sp>
      <p:cxnSp>
        <p:nvCxnSpPr>
          <p:cNvPr id="100068" name="groupbranch21"/>
          <p:cNvCxnSpPr/>
          <p:nvPr/>
        </p:nvCxnSpPr>
        <p:spPr>
          <a:xfrm xmlns:a="http://schemas.openxmlformats.org/drawingml/2006/main">
            <a:off x="17802000" y="8676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69" name="group21"/>
          <p:cNvSpPr txBox="1"/>
          <p:nvPr/>
        </p:nvSpPr>
        <p:spPr>
          <a:xfrm xmlns:a="http://schemas.openxmlformats.org/drawingml/2006/main">
            <a:off x="18108000" y="8280000"/>
            <a:ext cx="716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900" b="1">
                <a:solidFill>
                  <a:srgbClr val="45546C"/>
                </a:solidFill>
                <a:latin typeface="Microsoft JhengHei"/>
                <a:ea typeface="Microsoft JhengHei"/>
              </a:rPr>
              <a:t>費用透明</a:t>
            </a:r>
          </a:p>
        </p:txBody>
      </p:sp>
      <p:cxnSp>
        <p:nvCxnSpPr>
          <p:cNvPr id="100070" name="leafbranch210"/>
          <p:cNvCxnSpPr/>
          <p:nvPr/>
        </p:nvCxnSpPr>
        <p:spPr>
          <a:xfrm xmlns:a="http://schemas.openxmlformats.org/drawingml/2006/main">
            <a:off x="17802000" y="9684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71" name="F22"/>
          <p:cNvSpPr txBox="1"/>
          <p:nvPr/>
        </p:nvSpPr>
        <p:spPr>
          <a:xfrm xmlns:a="http://schemas.openxmlformats.org/drawingml/2006/main">
            <a:off x="18396000" y="9360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回覆附估算費用與使用模型</a:t>
            </a:r>
          </a:p>
        </p:txBody>
      </p:sp>
      <p:cxnSp>
        <p:nvCxnSpPr>
          <p:cNvPr id="100072" name="leafbranch211"/>
          <p:cNvCxnSpPr/>
          <p:nvPr/>
        </p:nvCxnSpPr>
        <p:spPr>
          <a:xfrm xmlns:a="http://schemas.openxmlformats.org/drawingml/2006/main">
            <a:off x="17802000" y="10530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73" name="F23"/>
          <p:cNvSpPr txBox="1"/>
          <p:nvPr/>
        </p:nvSpPr>
        <p:spPr>
          <a:xfrm xmlns:a="http://schemas.openxmlformats.org/drawingml/2006/main">
            <a:off x="18396000" y="10206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達月停止線後保留免費回答</a:t>
            </a:r>
          </a:p>
        </p:txBody>
      </p:sp>
      <p:cxnSp>
        <p:nvCxnSpPr>
          <p:cNvPr id="100074" name="leafbranch212"/>
          <p:cNvCxnSpPr/>
          <p:nvPr/>
        </p:nvCxnSpPr>
        <p:spPr>
          <a:xfrm xmlns:a="http://schemas.openxmlformats.org/drawingml/2006/main">
            <a:off x="17802000" y="11376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75" name="F24"/>
          <p:cNvSpPr txBox="1"/>
          <p:nvPr/>
        </p:nvSpPr>
        <p:spPr>
          <a:xfrm xmlns:a="http://schemas.openxmlformats.org/drawingml/2006/main">
            <a:off x="18396000" y="11052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所有生成與重試納入計費</a:t>
            </a:r>
          </a:p>
        </p:txBody>
      </p:sp>
      <p:cxnSp>
        <p:nvCxnSpPr>
          <p:cNvPr id="100076" name="groupbranch22"/>
          <p:cNvCxnSpPr/>
          <p:nvPr/>
        </p:nvCxnSpPr>
        <p:spPr>
          <a:xfrm xmlns:a="http://schemas.openxmlformats.org/drawingml/2006/main">
            <a:off x="17802000" y="12636000"/>
            <a:ext cx="306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77" name="group22"/>
          <p:cNvSpPr txBox="1"/>
          <p:nvPr/>
        </p:nvSpPr>
        <p:spPr>
          <a:xfrm xmlns:a="http://schemas.openxmlformats.org/drawingml/2006/main">
            <a:off x="18108000" y="12240000"/>
            <a:ext cx="7164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900" b="1">
                <a:solidFill>
                  <a:srgbClr val="45546C"/>
                </a:solidFill>
                <a:latin typeface="Microsoft JhengHei"/>
                <a:ea typeface="Microsoft JhengHei"/>
              </a:rPr>
              <a:t>維運與驗收</a:t>
            </a:r>
          </a:p>
        </p:txBody>
      </p:sp>
      <p:cxnSp>
        <p:nvCxnSpPr>
          <p:cNvPr id="100078" name="leafbranch220"/>
          <p:cNvCxnSpPr/>
          <p:nvPr/>
        </p:nvCxnSpPr>
        <p:spPr>
          <a:xfrm xmlns:a="http://schemas.openxmlformats.org/drawingml/2006/main">
            <a:off x="17802000" y="13644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79" name="F25"/>
          <p:cNvSpPr txBox="1"/>
          <p:nvPr/>
        </p:nvSpPr>
        <p:spPr>
          <a:xfrm xmlns:a="http://schemas.openxmlformats.org/drawingml/2006/main">
            <a:off x="18396000" y="13320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查詢雲端對話與執行紀錄</a:t>
            </a:r>
          </a:p>
        </p:txBody>
      </p:sp>
      <p:cxnSp>
        <p:nvCxnSpPr>
          <p:cNvPr id="100080" name="leafbranch221"/>
          <p:cNvCxnSpPr/>
          <p:nvPr/>
        </p:nvCxnSpPr>
        <p:spPr>
          <a:xfrm xmlns:a="http://schemas.openxmlformats.org/drawingml/2006/main">
            <a:off x="17802000" y="14490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81" name="F26"/>
          <p:cNvSpPr txBox="1"/>
          <p:nvPr/>
        </p:nvSpPr>
        <p:spPr>
          <a:xfrm xmlns:a="http://schemas.openxmlformats.org/drawingml/2006/main">
            <a:off x="18396000" y="14166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使用 TestUI 驗證真實問答</a:t>
            </a:r>
          </a:p>
        </p:txBody>
      </p:sp>
      <p:cxnSp>
        <p:nvCxnSpPr>
          <p:cNvPr id="100082" name="leafbranch222"/>
          <p:cNvCxnSpPr/>
          <p:nvPr/>
        </p:nvCxnSpPr>
        <p:spPr>
          <a:xfrm xmlns:a="http://schemas.openxmlformats.org/drawingml/2006/main">
            <a:off x="17802000" y="15336000"/>
            <a:ext cx="59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sp>
        <p:nvSpPr>
          <p:cNvPr id="100083" name="F27"/>
          <p:cNvSpPr txBox="1"/>
          <p:nvPr/>
        </p:nvSpPr>
        <p:spPr>
          <a:xfrm xmlns:a="http://schemas.openxmlformats.org/drawingml/2006/main">
            <a:off x="18396000" y="15012000"/>
            <a:ext cx="6876000" cy="66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檢查索引更新與版本健康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00084" name="root"/>
          <p:cNvSpPr txBox="1"/>
          <p:nvPr/>
        </p:nvSpPr>
        <p:spPr>
          <a:xfrm xmlns:a="http://schemas.openxmlformats.org/drawingml/2006/main">
            <a:off x="720000" y="504000"/>
            <a:ext cx="2448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5200" b="1">
                <a:solidFill>
                  <a:srgbClr val="1428A0"/>
                </a:solidFill>
                <a:latin typeface="Microsoft JhengHei"/>
                <a:ea typeface="Microsoft JhengHei"/>
              </a:rPr>
              <a:t>Samsung LINE Bot｜回答邏輯與技術架構</a:t>
            </a:r>
          </a:p>
        </p:txBody>
      </p:sp>
      <p:sp>
        <p:nvSpPr>
          <p:cNvPr id="100085" name="early-exit"/>
          <p:cNvSpPr txBox="1"/>
          <p:nvPr/>
        </p:nvSpPr>
        <p:spPr>
          <a:xfrm xmlns:a="http://schemas.openxmlformats.org/drawingml/2006/main">
            <a:off x="720000" y="1656000"/>
            <a:ext cx="244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800" tIns="10800" rIns="10800" bIns="10800" anchor="ctr"/>
          <a:lstStyle xmlns:a="http://schemas.openxmlformats.org/drawingml/2006/main"/>
          <a:p xmlns:a="http://schemas.openxmlformats.org/drawingml/2006/main">
            <a:pPr algn="l"/>
            <a:r>
              <a:rPr lang="en-US" sz="2100" b="0">
                <a:solidFill>
                  <a:srgbClr val="45546C"/>
                </a:solidFill>
                <a:latin typeface="Microsoft JhengHei"/>
                <a:ea typeface="Microsoft JhengHei"/>
              </a:rPr>
              <a:t>任一來源證據足夠即回覆；只有不足才往下查。中欄為共用控制，不是每題都呼叫模型。</a:t>
            </a:r>
          </a:p>
        </p:txBody>
      </p:sp>
      <p:sp>
        <p:nvSpPr>
          <p:cNvPr id="100086" name="line-client"/>
          <p:cNvSpPr txBox="1"/>
          <p:nvPr/>
        </p:nvSpPr>
        <p:spPr>
          <a:xfrm xmlns:a="http://schemas.openxmlformats.org/drawingml/2006/main">
            <a:off x="720000" y="2160000"/>
            <a:ext cx="90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A0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Microsoft JhengHei"/>
                <a:ea typeface="Microsoft JhengHei"/>
              </a:rPr>
              <a:t>LINE｜店員文字、選型、來源按鍵</a:t>
            </a:r>
          </a:p>
        </p:txBody>
      </p:sp>
      <p:sp>
        <p:nvSpPr>
          <p:cNvPr id="100087" name="test-client"/>
          <p:cNvSpPr txBox="1"/>
          <p:nvPr/>
        </p:nvSpPr>
        <p:spPr>
          <a:xfrm xmlns:a="http://schemas.openxmlformats.org/drawingml/2006/main">
            <a:off x="10800000" y="2160000"/>
            <a:ext cx="68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46C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Microsoft JhengHei"/>
                <a:ea typeface="Microsoft JhengHei"/>
              </a:rPr>
              <a:t>Chrome TestUI</a:t>
            </a:r>
          </a:p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Microsoft JhengHei"/>
                <a:ea typeface="Microsoft JhengHei"/>
              </a:rPr>
              <a:t>HTML／JavaScript；共用路由</a:t>
            </a:r>
          </a:p>
        </p:txBody>
      </p:sp>
      <p:sp>
        <p:nvSpPr>
          <p:cNvPr id="100088" name="worker-schedule"/>
          <p:cNvSpPr txBox="1"/>
          <p:nvPr/>
        </p:nvSpPr>
        <p:spPr>
          <a:xfrm xmlns:a="http://schemas.openxmlformats.org/drawingml/2006/main">
            <a:off x="18720000" y="2160000"/>
            <a:ext cx="648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5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1">
                <a:solidFill>
                  <a:srgbClr val="FFFFFF"/>
                </a:solidFill>
                <a:latin typeface="Microsoft JhengHei"/>
                <a:ea typeface="Microsoft JhengHei"/>
              </a:rPr>
              <a:t>Windows 排程</a:t>
            </a:r>
          </a:p>
          <a:p xmlns:a="http://schemas.openxmlformats.org/drawingml/2006/main">
            <a:pPr algn="l"/>
            <a:r>
              <a:rPr lang="en-US" sz="2500" b="1">
                <a:solidFill>
                  <a:srgbClr val="FFFFFF"/>
                </a:solidFill>
                <a:latin typeface="Microsoft JhengHei"/>
                <a:ea typeface="Microsoft JhengHei"/>
              </a:rPr>
              <a:t>每日 09:30＋登入時</a:t>
            </a:r>
          </a:p>
          <a:p xmlns:a="http://schemas.openxmlformats.org/drawingml/2006/main">
            <a:pPr algn="l"/>
            <a:r>
              <a:rPr lang="en-US" sz="2500" b="1">
                <a:solidFill>
                  <a:srgbClr val="FFFFFF"/>
                </a:solidFill>
                <a:latin typeface="Microsoft JhengHei"/>
                <a:ea typeface="Microsoft JhengHei"/>
              </a:rPr>
              <a:t>須開機、登入、連網</a:t>
            </a:r>
          </a:p>
        </p:txBody>
      </p:sp>
      <p:sp>
        <p:nvSpPr>
          <p:cNvPr id="100089" name="gas-entry"/>
          <p:cNvSpPr txBox="1"/>
          <p:nvPr/>
        </p:nvSpPr>
        <p:spPr>
          <a:xfrm xmlns:a="http://schemas.openxmlformats.org/drawingml/2006/main">
            <a:off x="720000" y="3960000"/>
            <a:ext cx="90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1">
                <a:solidFill>
                  <a:srgbClr val="17243B"/>
                </a:solidFill>
                <a:latin typeface="Microsoft JhengHei"/>
                <a:ea typeface="Microsoft JhengHei"/>
              </a:rPr>
              <a:t>Apps Script V8｜事件入口</a:t>
            </a:r>
          </a:p>
          <a:p xmlns:a="http://schemas.openxmlformats.org/drawingml/2006/main">
            <a:pPr algn="l"/>
            <a:r>
              <a:rPr lang="en-US" sz="2500" b="1">
                <a:solidFill>
                  <a:srgbClr val="17243B"/>
                </a:solidFill>
                <a:latin typeface="Microsoft JhengHei"/>
                <a:ea typeface="Microsoft JhengHei"/>
              </a:rPr>
              <a:t>指令、去重、型號及對話狀態</a:t>
            </a:r>
          </a:p>
          <a:p xmlns:a="http://schemas.openxmlformats.org/drawingml/2006/main">
            <a:pPr algn="l"/>
            <a:r>
              <a:rPr lang="en-US" sz="2500" b="1">
                <a:solidFill>
                  <a:srgbClr val="17243B"/>
                </a:solidFill>
                <a:latin typeface="Microsoft JhengHei"/>
                <a:ea typeface="Microsoft JhengHei"/>
              </a:rPr>
              <a:t>明確選來源直接執行，不再確認</a:t>
            </a:r>
          </a:p>
        </p:txBody>
      </p:sp>
      <p:sp>
        <p:nvSpPr>
          <p:cNvPr id="100090" name="local"/>
          <p:cNvSpPr txBox="1"/>
          <p:nvPr/>
        </p:nvSpPr>
        <p:spPr>
          <a:xfrm xmlns:a="http://schemas.openxmlformats.org/drawingml/2006/main">
            <a:off x="720000" y="6120000"/>
            <a:ext cx="90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優先：QA／RULE／已驗證片段</a:t>
            </a:r>
          </a:p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完整命中直接答：不叫守門、不讀 PDF</a:t>
            </a:r>
          </a:p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一般生成才使用 2.5 Flash-Lite</a:t>
            </a:r>
          </a:p>
        </p:txBody>
      </p:sp>
      <p:sp>
        <p:nvSpPr>
          <p:cNvPr id="100091" name="manual"/>
          <p:cNvSpPr txBox="1"/>
          <p:nvPr/>
        </p:nvSpPr>
        <p:spPr>
          <a:xfrm xmlns:a="http://schemas.openxmlformats.org/drawingml/2006/main">
            <a:off x="720000" y="8280000"/>
            <a:ext cx="90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0">
                <a:solidFill>
                  <a:srgbClr val="17243B"/>
                </a:solidFill>
                <a:latin typeface="Microsoft JhengHei"/>
                <a:ea typeface="Microsoft JhengHei"/>
              </a:rPr>
              <a:t>必要時：對應型號手冊</a:t>
            </a:r>
          </a:p>
          <a:p xmlns:a="http://schemas.openxmlformats.org/drawingml/2006/main">
            <a:pPr algn="l"/>
            <a:r>
              <a:rPr lang="en-US" sz="2400" b="0">
                <a:solidFill>
                  <a:srgbClr val="17243B"/>
                </a:solidFill>
                <a:latin typeface="Microsoft JhengHei"/>
                <a:ea typeface="Microsoft JhengHei"/>
              </a:rPr>
              <a:t>先按題意檢索完整頁索引 → 2.5 Flash-Lite</a:t>
            </a:r>
          </a:p>
          <a:p xmlns:a="http://schemas.openxmlformats.org/drawingml/2006/main">
            <a:pPr algn="l"/>
            <a:r>
              <a:rPr lang="en-US" sz="2400" b="0">
                <a:solidFill>
                  <a:srgbClr val="17243B"/>
                </a:solidFill>
                <a:latin typeface="Microsoft JhengHei"/>
                <a:ea typeface="Microsoft JhengHei"/>
              </a:rPr>
              <a:t>無可靠文字時：Files API＋2.5 Flash 備援</a:t>
            </a:r>
          </a:p>
          <a:p xmlns:a="http://schemas.openxmlformats.org/drawingml/2006/main">
            <a:pPr algn="l"/>
            <a:r>
              <a:rPr lang="en-US" sz="2400" b="0">
                <a:solidFill>
                  <a:srgbClr val="17243B"/>
                </a:solidFill>
                <a:latin typeface="Microsoft JhengHei"/>
                <a:ea typeface="Microsoft JhengHei"/>
              </a:rPr>
              <a:t>不得混型號、文件修訂或模式限制</a:t>
            </a:r>
          </a:p>
        </p:txBody>
      </p:sp>
      <p:sp>
        <p:nvSpPr>
          <p:cNvPr id="100092" name="web"/>
          <p:cNvSpPr txBox="1"/>
          <p:nvPr/>
        </p:nvSpPr>
        <p:spPr>
          <a:xfrm xmlns:a="http://schemas.openxmlformats.org/drawingml/2006/main">
            <a:off x="720000" y="10800000"/>
            <a:ext cx="90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僅未解部分：公開網頁補救一次</a:t>
            </a:r>
          </a:p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2.5 Flash＋Google Search；不附 PDF</a:t>
            </a:r>
          </a:p>
          <a:p xmlns:a="http://schemas.openxmlformats.org/drawingml/2006/main">
            <a:pPr algn="l"/>
            <a:r>
              <a:rPr lang="en-US" sz="2500" b="0">
                <a:solidFill>
                  <a:srgbClr val="17243B"/>
                </a:solidFill>
                <a:latin typeface="Microsoft JhengHei"/>
                <a:ea typeface="Microsoft JhengHei"/>
              </a:rPr>
              <a:t>排除三星網頁證據；保留官網連結</a:t>
            </a:r>
          </a:p>
        </p:txBody>
      </p:sp>
      <p:sp>
        <p:nvSpPr>
          <p:cNvPr id="100093" name="reply"/>
          <p:cNvSpPr txBox="1"/>
          <p:nvPr/>
        </p:nvSpPr>
        <p:spPr>
          <a:xfrm xmlns:a="http://schemas.openxmlformats.org/drawingml/2006/main">
            <a:off x="720000" y="12960000"/>
            <a:ext cx="90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A0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500" b="1">
                <a:solidFill>
                  <a:srgbClr val="FFFFFF"/>
                </a:solidFill>
                <a:latin typeface="Microsoft JhengHei"/>
                <a:ea typeface="Microsoft JhengHei"/>
              </a:rPr>
              <a:t>答案完成 → LINE Reply（不 Push）</a:t>
            </a:r>
          </a:p>
          <a:p xmlns:a="http://schemas.openxmlformats.org/drawingml/2006/main">
            <a:pPr algn="l"/>
            <a:r>
              <a:rPr lang="en-US" sz="2500" b="1">
                <a:solidFill>
                  <a:srgbClr val="FFFFFF"/>
                </a:solidFill>
                <a:latin typeface="Microsoft JhengHei"/>
                <a:ea typeface="Microsoft JhengHei"/>
              </a:rPr>
              <a:t>必要步驟／限制＋精簡來源＋費用／模型</a:t>
            </a:r>
          </a:p>
          <a:p xmlns:a="http://schemas.openxmlformats.org/drawingml/2006/main">
            <a:pPr algn="l"/>
            <a:r>
              <a:rPr lang="en-US" sz="2500" b="1">
                <a:solidFill>
                  <a:srgbClr val="FFFFFF"/>
                </a:solidFill>
                <a:latin typeface="Microsoft JhengHei"/>
                <a:ea typeface="Microsoft JhengHei"/>
              </a:rPr>
              <a:t>無證據不猜；保留已知、給安全下一步</a:t>
            </a:r>
          </a:p>
        </p:txBody>
      </p:sp>
      <p:sp>
        <p:nvSpPr>
          <p:cNvPr id="100094" name="planner"/>
          <p:cNvSpPr txBox="1"/>
          <p:nvPr/>
        </p:nvSpPr>
        <p:spPr>
          <a:xfrm xmlns:a="http://schemas.openxmlformats.org/drawingml/2006/main">
            <a:off x="10800000" y="3960000"/>
            <a:ext cx="684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條件式守門｜Gemini 3.7 Flash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僅指涉不明、衝突、複合或新限制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每輪最多一次；只拆主張、選候選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不回答產品事實、不掛搜尋工具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精準 QA、系列解析、明確來源跳過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低信心／格式失敗不重試，安全退回</a:t>
            </a:r>
          </a:p>
        </p:txBody>
      </p:sp>
      <p:sp>
        <p:nvSpPr>
          <p:cNvPr id="100095" name="cost"/>
          <p:cNvSpPr txBox="1"/>
          <p:nvPr/>
        </p:nvSpPr>
        <p:spPr>
          <a:xfrm xmlns:a="http://schemas.openxmlformats.org/drawingml/2006/main">
            <a:off x="10800000" y="7560000"/>
            <a:ext cx="68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生成共同入口｜費用守門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模型白名單 → 月預留 → 來源扣次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收到 usage 後結算；重試另算成本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缺 usage 留保守估算，不能填零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月 NT$90 停新增付費；免費仍可答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每日一般10／手冊2／網搜5；補救3</a:t>
            </a:r>
          </a:p>
        </p:txBody>
      </p:sp>
      <p:sp>
        <p:nvSpPr>
          <p:cNvPr id="100096" name="evidence"/>
          <p:cNvSpPr txBox="1"/>
          <p:nvPr/>
        </p:nvSpPr>
        <p:spPr>
          <a:xfrm xmlns:a="http://schemas.openxmlformats.org/drawingml/2006/main">
            <a:off x="10800000" y="10800000"/>
            <a:ext cx="684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證據與完成判定｜程式守門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核型號、SHA、頁碼、主張與條件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找到片段 ≠ 足以回答這一題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部分成立只補未解，不重複整題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原題＋型號＋證據一起延續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同題同資料快取；再詳細最多一次</a:t>
            </a:r>
          </a:p>
        </p:txBody>
      </p:sp>
      <p:sp>
        <p:nvSpPr>
          <p:cNvPr id="100097" name="discovery"/>
          <p:cNvSpPr txBox="1"/>
          <p:nvPr/>
        </p:nvSpPr>
        <p:spPr>
          <a:xfrm xmlns:a="http://schemas.openxmlformats.org/drawingml/2006/main">
            <a:off x="18720000" y="4680000"/>
            <a:ext cx="64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0">
                <a:solidFill>
                  <a:srgbClr val="17243B"/>
                </a:solidFill>
                <a:latin typeface="Microsoft JhengHei"/>
                <a:ea typeface="Microsoft JhengHei"/>
              </a:rPr>
              <a:t>GAS 背景維護</a:t>
            </a:r>
          </a:p>
          <a:p xmlns:a="http://schemas.openxmlformats.org/drawingml/2006/main">
            <a:pPr algn="l"/>
            <a:r>
              <a:rPr lang="en-US" sz="2400" b="0">
                <a:solidFill>
                  <a:srgbClr val="17243B"/>
                </a:solidFill>
                <a:latin typeface="Microsoft JhengHei"/>
                <a:ea typeface="Microsoft JhengHei"/>
              </a:rPr>
              <a:t>三星官方支援頁／下載</a:t>
            </a:r>
          </a:p>
          <a:p xmlns:a="http://schemas.openxmlformats.org/drawingml/2006/main">
            <a:pPr algn="l"/>
            <a:r>
              <a:rPr lang="en-US" sz="2400" b="0">
                <a:solidFill>
                  <a:srgbClr val="17243B"/>
                </a:solidFill>
                <a:latin typeface="Microsoft JhengHei"/>
                <a:ea typeface="Microsoft JhengHei"/>
              </a:rPr>
              <a:t>核角色、適用型號、PDF SHA</a:t>
            </a:r>
          </a:p>
          <a:p xmlns:a="http://schemas.openxmlformats.org/drawingml/2006/main">
            <a:pPr algn="l"/>
            <a:r>
              <a:rPr lang="en-US" sz="2400" b="0">
                <a:solidFill>
                  <a:srgbClr val="17243B"/>
                </a:solidFill>
                <a:latin typeface="Microsoft JhengHei"/>
                <a:ea typeface="Microsoft JhengHei"/>
              </a:rPr>
              <a:t>驗證通過才排入待建索引</a:t>
            </a:r>
          </a:p>
        </p:txBody>
      </p:sp>
      <p:sp>
        <p:nvSpPr>
          <p:cNvPr id="100098" name="worker"/>
          <p:cNvSpPr txBox="1"/>
          <p:nvPr/>
        </p:nvSpPr>
        <p:spPr>
          <a:xfrm xmlns:a="http://schemas.openxmlformats.org/drawingml/2006/main">
            <a:off x="18720000" y="7200000"/>
            <a:ext cx="64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Python worker｜requests＋PyMuPDF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下載核 SHA、抽完整頁文／表格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產生檢索索引；抽頁不呼叫 LLM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HMAC 簽章送既有 GAS 入口</a:t>
            </a:r>
          </a:p>
        </p:txBody>
      </p:sp>
      <p:sp>
        <p:nvSpPr>
          <p:cNvPr id="100099" name="atomic"/>
          <p:cNvSpPr txBox="1"/>
          <p:nvPr/>
        </p:nvSpPr>
        <p:spPr>
          <a:xfrm xmlns:a="http://schemas.openxmlformats.org/drawingml/2006/main">
            <a:off x="18720000" y="9720000"/>
            <a:ext cx="64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GAS＋Drive API v3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PDF／索引不可變存檔、雙 SHA 讀回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單一版本指標切換；同版重送去重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失敗保留有效版，不用暫存冒充成功</a:t>
            </a:r>
          </a:p>
        </p:txBody>
      </p:sp>
      <p:sp>
        <p:nvSpPr>
          <p:cNvPr id="100100" name="boundary"/>
          <p:cNvSpPr txBox="1"/>
          <p:nvPr/>
        </p:nvSpPr>
        <p:spPr>
          <a:xfrm xmlns:a="http://schemas.openxmlformats.org/drawingml/2006/main">
            <a:off x="18720000" y="12240000"/>
            <a:ext cx="64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技術取捨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自建頁級 RAG 優先、整本讀取備援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Google File Search 尚未正式採用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不加第二個回答模型作每題評審</a:t>
            </a:r>
          </a:p>
        </p:txBody>
      </p:sp>
      <p:sp>
        <p:nvSpPr>
          <p:cNvPr id="100101" name="sheets"/>
          <p:cNvSpPr txBox="1"/>
          <p:nvPr/>
        </p:nvSpPr>
        <p:spPr>
          <a:xfrm xmlns:a="http://schemas.openxmlformats.org/drawingml/2006/main">
            <a:off x="720000" y="15120000"/>
            <a:ext cx="79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Google Sheets｜共同知識與稽核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QA／CLASS_RULES／正式 Prompt!C3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雲端對話、執行 LOG</a:t>
            </a:r>
          </a:p>
        </p:txBody>
      </p:sp>
      <p:sp>
        <p:nvSpPr>
          <p:cNvPr id="100102" name="state"/>
          <p:cNvSpPr txBox="1"/>
          <p:nvPr/>
        </p:nvSpPr>
        <p:spPr>
          <a:xfrm xmlns:a="http://schemas.openxmlformats.org/drawingml/2006/main">
            <a:off x="9720000" y="15120000"/>
            <a:ext cx="79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ScriptProperties／Cache／Lock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持久型號、來源狀態、額度與月預算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版本指標、快取、防重複與原子預留</a:t>
            </a:r>
          </a:p>
        </p:txBody>
      </p:sp>
      <p:sp>
        <p:nvSpPr>
          <p:cNvPr id="100103" name="drive"/>
          <p:cNvSpPr txBox="1"/>
          <p:nvPr/>
        </p:nvSpPr>
        <p:spPr>
          <a:xfrm xmlns:a="http://schemas.openxmlformats.org/drawingml/2006/main">
            <a:off x="18720000" y="15120000"/>
            <a:ext cx="648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2"/>
          </a:solidFill>
          <a:ln xmlns:a="http://schemas.openxmlformats.org/drawingml/2006/main" w="8890">
            <a:solidFill>
              <a:srgbClr val="D8E0EB"/>
            </a:solidFill>
          </a:ln>
        </p:spPr>
        <p:txBody>
          <a:bodyPr xmlns:a="http://schemas.openxmlformats.org/drawingml/2006/main" lIns="108000" tIns="108000" rIns="108000" bIns="108000" anchor="ctr"/>
          <a:lstStyle xmlns:a="http://schemas.openxmlformats.org/drawingml/2006/main"/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Google Drive｜共同文件層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核實 PDF＋逐頁索引／分片</a:t>
            </a:r>
          </a:p>
          <a:p xmlns:a="http://schemas.openxmlformats.org/drawingml/2006/main">
            <a:pPr algn="l"/>
            <a:r>
              <a:rPr lang="en-US" sz="2300" b="0">
                <a:solidFill>
                  <a:srgbClr val="17243B"/>
                </a:solidFill>
                <a:latin typeface="Microsoft JhengHei"/>
                <a:ea typeface="Microsoft JhengHei"/>
              </a:rPr>
              <a:t>供 GAS 檢索、原檔備援與版本回復</a:t>
            </a:r>
          </a:p>
        </p:txBody>
      </p:sp>
      <p:cxnSp>
        <p:nvCxnSpPr>
          <p:cNvPr id="100104" name="main0"/>
          <p:cNvCxnSpPr/>
          <p:nvPr/>
        </p:nvCxnSpPr>
        <p:spPr>
          <a:xfrm xmlns:a="http://schemas.openxmlformats.org/drawingml/2006/main">
            <a:off x="5220000" y="3240000"/>
            <a:ext cx="0" cy="72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triangle"/>
          </a:ln>
        </p:spPr>
      </p:cxnSp>
      <p:cxnSp>
        <p:nvCxnSpPr>
          <p:cNvPr id="100105" name="main1"/>
          <p:cNvCxnSpPr/>
          <p:nvPr/>
        </p:nvCxnSpPr>
        <p:spPr>
          <a:xfrm xmlns:a="http://schemas.openxmlformats.org/drawingml/2006/main">
            <a:off x="5220000" y="5400000"/>
            <a:ext cx="0" cy="72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triangle"/>
          </a:ln>
        </p:spPr>
      </p:cxnSp>
      <p:cxnSp>
        <p:nvCxnSpPr>
          <p:cNvPr id="100106" name="main2"/>
          <p:cNvCxnSpPr/>
          <p:nvPr/>
        </p:nvCxnSpPr>
        <p:spPr>
          <a:xfrm xmlns:a="http://schemas.openxmlformats.org/drawingml/2006/main">
            <a:off x="5220000" y="7560000"/>
            <a:ext cx="0" cy="72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triangle"/>
          </a:ln>
        </p:spPr>
      </p:cxnSp>
      <p:cxnSp>
        <p:nvCxnSpPr>
          <p:cNvPr id="100107" name="main3"/>
          <p:cNvCxnSpPr/>
          <p:nvPr/>
        </p:nvCxnSpPr>
        <p:spPr>
          <a:xfrm xmlns:a="http://schemas.openxmlformats.org/drawingml/2006/main">
            <a:off x="5220000" y="10080000"/>
            <a:ext cx="0" cy="72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triangle"/>
          </a:ln>
        </p:spPr>
      </p:cxnSp>
      <p:cxnSp>
        <p:nvCxnSpPr>
          <p:cNvPr id="100108" name="main4"/>
          <p:cNvCxnSpPr/>
          <p:nvPr/>
        </p:nvCxnSpPr>
        <p:spPr>
          <a:xfrm xmlns:a="http://schemas.openxmlformats.org/drawingml/2006/main">
            <a:off x="5220000" y="12240000"/>
            <a:ext cx="0" cy="72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triangle"/>
          </a:ln>
        </p:spPr>
      </p:cxnSp>
      <p:sp>
        <p:nvSpPr>
          <p:cNvPr id="100109" name="flow-in"/>
          <p:cNvSpPr txBox="1"/>
          <p:nvPr/>
        </p:nvSpPr>
        <p:spPr>
          <a:xfrm xmlns:a="http://schemas.openxmlformats.org/drawingml/2006/main">
            <a:off x="5400000" y="3312000"/>
            <a:ext cx="396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800" tIns="10800" rIns="10800" bIns="1080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45546C"/>
                </a:solidFill>
                <a:latin typeface="Microsoft JhengHei"/>
                <a:ea typeface="Microsoft JhengHei"/>
              </a:rPr>
              <a:t>Webhook HTTPS</a:t>
            </a:r>
          </a:p>
        </p:txBody>
      </p:sp>
      <p:sp>
        <p:nvSpPr>
          <p:cNvPr id="100110" name="flow-pdf"/>
          <p:cNvSpPr txBox="1"/>
          <p:nvPr/>
        </p:nvSpPr>
        <p:spPr>
          <a:xfrm xmlns:a="http://schemas.openxmlformats.org/drawingml/2006/main">
            <a:off x="5400000" y="7632000"/>
            <a:ext cx="396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800" tIns="10800" rIns="10800" bIns="1080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45546C"/>
                </a:solidFill>
                <a:latin typeface="Microsoft JhengHei"/>
                <a:ea typeface="Microsoft JhengHei"/>
              </a:rPr>
              <a:t>不足才往下查</a:t>
            </a:r>
          </a:p>
        </p:txBody>
      </p:sp>
      <p:sp>
        <p:nvSpPr>
          <p:cNvPr id="100111" name="flow-web"/>
          <p:cNvSpPr txBox="1"/>
          <p:nvPr/>
        </p:nvSpPr>
        <p:spPr>
          <a:xfrm xmlns:a="http://schemas.openxmlformats.org/drawingml/2006/main">
            <a:off x="5400000" y="10152000"/>
            <a:ext cx="396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800" tIns="10800" rIns="10800" bIns="1080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45546C"/>
                </a:solidFill>
                <a:latin typeface="Microsoft JhengHei"/>
                <a:ea typeface="Microsoft JhengHei"/>
              </a:rPr>
              <a:t>只帶未解主張</a:t>
            </a:r>
          </a:p>
        </p:txBody>
      </p:sp>
      <p:cxnSp>
        <p:nvCxnSpPr>
          <p:cNvPr id="100112" name="test-route-a"/>
          <p:cNvCxnSpPr/>
          <p:nvPr/>
        </p:nvCxnSpPr>
        <p:spPr>
          <a:xfrm xmlns:a="http://schemas.openxmlformats.org/drawingml/2006/main">
            <a:off x="10260000" y="2700000"/>
            <a:ext cx="540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cxnSp>
        <p:nvCxnSpPr>
          <p:cNvPr id="100113" name="test-route-b"/>
          <p:cNvCxnSpPr/>
          <p:nvPr/>
        </p:nvCxnSpPr>
        <p:spPr>
          <a:xfrm xmlns:a="http://schemas.openxmlformats.org/drawingml/2006/main">
            <a:off x="10260000" y="2700000"/>
            <a:ext cx="0" cy="162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none"/>
          </a:ln>
        </p:spPr>
      </p:cxnSp>
      <p:cxnSp>
        <p:nvCxnSpPr>
          <p:cNvPr id="100114" name="test-route-c"/>
          <p:cNvCxnSpPr/>
          <p:nvPr/>
        </p:nvCxnSpPr>
        <p:spPr>
          <a:xfrm xmlns:a="http://schemas.openxmlformats.org/drawingml/2006/main">
            <a:off x="9720000" y="4320000"/>
            <a:ext cx="5400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5546C"/>
            </a:solidFill>
            <a:headEnd type="triangle"/>
          </a:ln>
        </p:spPr>
      </p:cxnSp>
      <p:cxnSp>
        <p:nvCxnSpPr>
          <p:cNvPr id="100115" name="entry-planner"/>
          <p:cNvCxnSpPr/>
          <p:nvPr/>
        </p:nvCxnSpPr>
        <p:spPr>
          <a:xfrm xmlns:a="http://schemas.openxmlformats.org/drawingml/2006/main">
            <a:off x="9720000" y="4680000"/>
            <a:ext cx="1080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1428A0"/>
            </a:solidFill>
            <a:tailEnd type="triangle"/>
          </a:ln>
        </p:spPr>
      </p:cxnSp>
      <p:cxnSp>
        <p:nvCxnSpPr>
          <p:cNvPr id="100116" name="manual-budget"/>
          <p:cNvCxnSpPr/>
          <p:nvPr/>
        </p:nvCxnSpPr>
        <p:spPr>
          <a:xfrm xmlns:a="http://schemas.openxmlformats.org/drawingml/2006/main">
            <a:off x="9720000" y="9000000"/>
            <a:ext cx="1080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triangle"/>
          </a:ln>
        </p:spPr>
      </p:cxnSp>
      <p:cxnSp>
        <p:nvCxnSpPr>
          <p:cNvPr id="100117" name="web-evidence"/>
          <p:cNvCxnSpPr/>
          <p:nvPr/>
        </p:nvCxnSpPr>
        <p:spPr>
          <a:xfrm xmlns:a="http://schemas.openxmlformats.org/drawingml/2006/main">
            <a:off x="9720000" y="11520000"/>
            <a:ext cx="1080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triangle"/>
          </a:ln>
        </p:spPr>
      </p:cxnSp>
      <p:cxnSp>
        <p:nvCxnSpPr>
          <p:cNvPr id="100118" name="sched-worker-a"/>
          <p:cNvCxnSpPr/>
          <p:nvPr/>
        </p:nvCxnSpPr>
        <p:spPr>
          <a:xfrm xmlns:a="http://schemas.openxmlformats.org/drawingml/2006/main">
            <a:off x="18180000" y="3060000"/>
            <a:ext cx="540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cxnSp>
        <p:nvCxnSpPr>
          <p:cNvPr id="100119" name="sched-worker-b"/>
          <p:cNvCxnSpPr/>
          <p:nvPr/>
        </p:nvCxnSpPr>
        <p:spPr>
          <a:xfrm xmlns:a="http://schemas.openxmlformats.org/drawingml/2006/main">
            <a:off x="18180000" y="3060000"/>
            <a:ext cx="0" cy="504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cxnSp>
        <p:nvCxnSpPr>
          <p:cNvPr id="100120" name="sched-worker-c"/>
          <p:cNvCxnSpPr/>
          <p:nvPr/>
        </p:nvCxnSpPr>
        <p:spPr>
          <a:xfrm xmlns:a="http://schemas.openxmlformats.org/drawingml/2006/main">
            <a:off x="18180000" y="8100000"/>
            <a:ext cx="540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triangle"/>
          </a:ln>
        </p:spPr>
      </p:cxnSp>
      <p:cxnSp>
        <p:nvCxnSpPr>
          <p:cNvPr id="100121" name="discover-worker"/>
          <p:cNvCxnSpPr/>
          <p:nvPr/>
        </p:nvCxnSpPr>
        <p:spPr>
          <a:xfrm xmlns:a="http://schemas.openxmlformats.org/drawingml/2006/main">
            <a:off x="19080000" y="6480000"/>
            <a:ext cx="0" cy="72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headEnd type="triangle"/>
            <a:tailEnd type="none"/>
          </a:ln>
        </p:spPr>
      </p:cxnSp>
      <p:cxnSp>
        <p:nvCxnSpPr>
          <p:cNvPr id="100122" name="worker-atomic"/>
          <p:cNvCxnSpPr/>
          <p:nvPr/>
        </p:nvCxnSpPr>
        <p:spPr>
          <a:xfrm xmlns:a="http://schemas.openxmlformats.org/drawingml/2006/main">
            <a:off x="21960000" y="9000000"/>
            <a:ext cx="0" cy="72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triangle"/>
          </a:ln>
        </p:spPr>
      </p:cxnSp>
      <p:cxnSp>
        <p:nvCxnSpPr>
          <p:cNvPr id="100123" name="atomic-data-a"/>
          <p:cNvCxnSpPr/>
          <p:nvPr/>
        </p:nvCxnSpPr>
        <p:spPr>
          <a:xfrm xmlns:a="http://schemas.openxmlformats.org/drawingml/2006/main">
            <a:off x="25200000" y="10620000"/>
            <a:ext cx="252000" cy="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cxnSp>
        <p:nvCxnSpPr>
          <p:cNvPr id="100124" name="atomic-data-b"/>
          <p:cNvCxnSpPr/>
          <p:nvPr/>
        </p:nvCxnSpPr>
        <p:spPr>
          <a:xfrm xmlns:a="http://schemas.openxmlformats.org/drawingml/2006/main">
            <a:off x="25452000" y="10620000"/>
            <a:ext cx="0" cy="504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087D85"/>
            </a:solidFill>
            <a:tailEnd type="none"/>
          </a:ln>
        </p:spPr>
      </p:cxnSp>
      <p:cxnSp>
        <p:nvCxnSpPr>
          <p:cNvPr id="100125" name="atomic-data-c"/>
          <p:cNvCxnSpPr/>
          <p:nvPr/>
        </p:nvCxnSpPr>
        <p:spPr>
          <a:xfrm xmlns:a="http://schemas.openxmlformats.org/drawingml/2006/main">
            <a:off x="25200000" y="15660000"/>
            <a:ext cx="2520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087D85"/>
            </a:solidFill>
            <a:headEnd type="triangle"/>
          </a:ln>
        </p:spPr>
      </p:cxnSp>
      <p:cxnSp>
        <p:nvCxnSpPr>
          <p:cNvPr id="100126" name="reply-sheet"/>
          <p:cNvCxnSpPr/>
          <p:nvPr/>
        </p:nvCxnSpPr>
        <p:spPr>
          <a:xfrm xmlns:a="http://schemas.openxmlformats.org/drawingml/2006/main">
            <a:off x="4680000" y="14400000"/>
            <a:ext cx="0" cy="72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triangle"/>
          </a:ln>
        </p:spPr>
      </p:cxnSp>
      <p:cxnSp>
        <p:nvCxnSpPr>
          <p:cNvPr id="100127" name="evidence-state"/>
          <p:cNvCxnSpPr/>
          <p:nvPr/>
        </p:nvCxnSpPr>
        <p:spPr>
          <a:xfrm xmlns:a="http://schemas.openxmlformats.org/drawingml/2006/main">
            <a:off x="13680000" y="13680000"/>
            <a:ext cx="0" cy="1440000"/>
          </a:xfrm>
          <a:prstGeom xmlns:a="http://schemas.openxmlformats.org/drawingml/2006/main" prst="straightConnector1">
            <a:avLst/>
          </a:prstGeom>
          <a:ln xmlns:a="http://schemas.openxmlformats.org/drawingml/2006/main" w="20320">
            <a:solidFill>
              <a:srgbClr val="45546C"/>
            </a:solidFill>
            <a:tailEnd type="triangle"/>
          </a:ln>
        </p:spPr>
      </p:cxnSp>
      <p:sp>
        <p:nvSpPr>
          <p:cNvPr id="100128" name="worker-poll"/>
          <p:cNvSpPr txBox="1"/>
          <p:nvPr/>
        </p:nvSpPr>
        <p:spPr>
          <a:xfrm>
            <a:off x="19440000" y="6588000"/>
            <a:ext cx="5760000" cy="504000"/>
          </a:xfrm>
          <a:prstGeom prst="rect">
            <a:avLst/>
          </a:prstGeom>
          <a:noFill/>
          <a:ln>
            <a:noFill/>
          </a:ln>
        </p:spPr>
        <p:txBody>
          <a:bodyPr lIns="10800" tIns="10800" rIns="10800" bIns="10800"/>
          <a:lstStyle/>
          <a:p>
            <a:r>
              <a:rPr lang="en-US" sz="1900">
                <a:solidFill>
                  <a:srgbClr val="087D85"/>
                </a:solidFill>
                <a:latin typeface="Microsoft JhengHei"/>
                <a:ea typeface="Microsoft JhengHei"/>
              </a:rPr>
              <a:t>worker 主動讀取待辦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2026-09-09T13:27:42.0000000Z</dcterms:created>
  <lastModifiedBy>OfficeCLI</lastModifiedBy>
  <dcterms:modified xsi:type="dcterms:W3CDTF">2026-09-09T13:27:43.6947337Z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2026-09-09T13:30:21Z</vt:lpwstr>
  </op:property>
</op:Properties>
</file>